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7779fca6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7779fca6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8f2dd550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8f2dd550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7779fca6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7779fca6d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7779fca6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b7779fca6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779fca6d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b7779fca6d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7779fca6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7779fca6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: Option 1">
  <p:cSld name="Title: Option 1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839789" y="4728864"/>
            <a:ext cx="6502708" cy="636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89" y="1593750"/>
            <a:ext cx="2160000" cy="58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>
            <p:ph type="ctrTitle"/>
          </p:nvPr>
        </p:nvSpPr>
        <p:spPr>
          <a:xfrm>
            <a:off x="839789" y="2495861"/>
            <a:ext cx="6502708" cy="1866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: Option 2">
  <p:cSld name="Title: Option 2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839789" y="4728864"/>
            <a:ext cx="6502708" cy="636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type="ctrTitle"/>
          </p:nvPr>
        </p:nvSpPr>
        <p:spPr>
          <a:xfrm>
            <a:off x="839789" y="2495861"/>
            <a:ext cx="6502708" cy="1866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789" y="1593749"/>
            <a:ext cx="2160000" cy="581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475163" y="708819"/>
            <a:ext cx="6877049" cy="50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839788" y="705844"/>
            <a:ext cx="3276600" cy="5099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">
  <p:cSld name="Section Open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8040688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>
            <a:off x="838200" y="1058408"/>
            <a:ext cx="6913563" cy="4741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1662" y="1058407"/>
            <a:ext cx="3040549" cy="4747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>
  <p:cSld name="1 Colum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199" y="1454149"/>
            <a:ext cx="10514013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: Option 1">
  <p:cSld name="2 Column: Option 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38200" y="1454149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6172200" y="1454149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Statement">
  <p:cSld name="Large Statement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ctrTitle"/>
          </p:nvPr>
        </p:nvSpPr>
        <p:spPr>
          <a:xfrm>
            <a:off x="838200" y="1058408"/>
            <a:ext cx="10515599" cy="4741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838200" y="1454149"/>
            <a:ext cx="3278188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495800" y="1454149"/>
            <a:ext cx="3278188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3" type="body"/>
          </p:nvPr>
        </p:nvSpPr>
        <p:spPr>
          <a:xfrm>
            <a:off x="8060410" y="1454149"/>
            <a:ext cx="3278188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: Opener Yellow">
  <p:cSld name="Section: Opener Yellow">
    <p:bg>
      <p:bgPr>
        <a:solidFill>
          <a:schemeClr val="accent5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ctrTitle"/>
          </p:nvPr>
        </p:nvSpPr>
        <p:spPr>
          <a:xfrm>
            <a:off x="819390" y="1058408"/>
            <a:ext cx="6932373" cy="4741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8040688" y="1058407"/>
            <a:ext cx="3311523" cy="4747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5" name="Google Shape;7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: Opener Dark Blue">
  <p:cSld name="Section: Opener Dark Blue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ctrTitle"/>
          </p:nvPr>
        </p:nvSpPr>
        <p:spPr>
          <a:xfrm>
            <a:off x="819390" y="1058408"/>
            <a:ext cx="6932373" cy="4741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8040688" y="1058407"/>
            <a:ext cx="3311523" cy="4747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1" name="Google Shape;8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: Option 2">
  <p:cSld name="2 Column: Option 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838200" y="1454149"/>
            <a:ext cx="3278188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2" type="body"/>
          </p:nvPr>
        </p:nvSpPr>
        <p:spPr>
          <a:xfrm>
            <a:off x="4495799" y="1454149"/>
            <a:ext cx="6856413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: Option 3">
  <p:cSld name="2 Column: Option 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839789" y="382251"/>
            <a:ext cx="3276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839789" y="1982451"/>
            <a:ext cx="32766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13"/>
          <p:cNvSpPr txBox="1"/>
          <p:nvPr>
            <p:ph idx="2" type="body"/>
          </p:nvPr>
        </p:nvSpPr>
        <p:spPr>
          <a:xfrm>
            <a:off x="4475162" y="365125"/>
            <a:ext cx="6877049" cy="5440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">
  <p:cSld name="Sub-sec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0" y="0"/>
            <a:ext cx="4114800" cy="64995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838200" y="365126"/>
            <a:ext cx="28194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4495800" y="365125"/>
            <a:ext cx="6856412" cy="5440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">
  <p:cSld name="End"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839789" y="2496571"/>
            <a:ext cx="6911975" cy="1864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type="ctrTitle"/>
          </p:nvPr>
        </p:nvSpPr>
        <p:spPr>
          <a:xfrm>
            <a:off x="860082" y="1094572"/>
            <a:ext cx="6891681" cy="6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789" y="5186858"/>
            <a:ext cx="2160000" cy="581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444957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151">
          <p15:clr>
            <a:srgbClr val="F26B43"/>
          </p15:clr>
        </p15:guide>
        <p15:guide id="2" pos="2593">
          <p15:clr>
            <a:srgbClr val="F26B43"/>
          </p15:clr>
        </p15:guide>
        <p15:guide id="3" pos="2819">
          <p15:clr>
            <a:srgbClr val="F26B43"/>
          </p15:clr>
        </p15:guide>
        <p15:guide id="4" pos="4883">
          <p15:clr>
            <a:srgbClr val="F26B43"/>
          </p15:clr>
        </p15:guide>
        <p15:guide id="5" pos="5065">
          <p15:clr>
            <a:srgbClr val="F26B43"/>
          </p15:clr>
        </p15:guide>
        <p15:guide id="6" pos="529">
          <p15:clr>
            <a:srgbClr val="F26B43"/>
          </p15:clr>
        </p15:guide>
        <p15:guide id="7" orient="horz" pos="232">
          <p15:clr>
            <a:srgbClr val="F26B43"/>
          </p15:clr>
        </p15:guide>
        <p15:guide id="8" orient="horz" pos="365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802464" y="4439614"/>
            <a:ext cx="6502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-IN" sz="1850"/>
              <a:t> Prajwal Thaware</a:t>
            </a:r>
            <a:endParaRPr/>
          </a:p>
        </p:txBody>
      </p:sp>
      <p:sp>
        <p:nvSpPr>
          <p:cNvPr id="118" name="Google Shape;118;p16"/>
          <p:cNvSpPr txBox="1"/>
          <p:nvPr>
            <p:ph type="ctrTitle"/>
          </p:nvPr>
        </p:nvSpPr>
        <p:spPr>
          <a:xfrm>
            <a:off x="839789" y="2495861"/>
            <a:ext cx="6502708" cy="1866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lang="en-IN"/>
              <a:t>SCAFFOLD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839800" y="1409225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693" lvl="0" marL="228593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Orchestration of Clusters</a:t>
            </a:r>
            <a:r>
              <a:rPr lang="en-IN"/>
              <a:t> is a manual, high-touch process that consumes significant engineering time.</a:t>
            </a:r>
            <a:endParaRPr/>
          </a:p>
          <a:p>
            <a:pPr indent="0" lvl="0" marL="22859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593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Engineers must manually execute SALT calls, configure replication, and validate cluster status</a:t>
            </a:r>
            <a:r>
              <a:rPr lang="en-IN"/>
              <a:t>.</a:t>
            </a:r>
            <a:endParaRPr/>
          </a:p>
          <a:p>
            <a:pPr indent="0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6693" lvl="0" marL="228593" rtl="0" algn="l">
              <a:spcBef>
                <a:spcPts val="15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solidFill>
                  <a:schemeClr val="folHlink"/>
                </a:solidFill>
              </a:rPr>
              <a:t>Multiple sequential steps across different tools creates opportunities for human error and inconsistencies.</a:t>
            </a:r>
            <a:endParaRPr>
              <a:solidFill>
                <a:schemeClr val="folHlink"/>
              </a:solidFill>
            </a:endParaRPr>
          </a:p>
          <a:p>
            <a:pPr indent="0" lvl="0" marL="228593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folHlink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Solution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722500" y="1072825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The automation platform streamlines the deployment through a template-driven web interface that handles the complete lifecycle automatically.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Jenkins and Ansible orchestrate all steps from cluster initialization to cluster verification.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This standardized approach reduces the deployment time, eliminates human error and enables to deploy clusters confidently.</a:t>
            </a:r>
            <a:endParaRPr/>
          </a:p>
        </p:txBody>
      </p:sp>
      <p:sp>
        <p:nvSpPr>
          <p:cNvPr id="133" name="Google Shape;133;p18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Key Features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722500" y="1072825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folHlink"/>
              </a:buClr>
              <a:buSzPts val="1100"/>
              <a:buFont typeface="Arial"/>
              <a:buNone/>
            </a:pPr>
            <a:r>
              <a:rPr b="1" lang="en-IN"/>
              <a:t>Template-Driven Deployment</a:t>
            </a:r>
            <a:endParaRPr b="1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IN"/>
              <a:t>   - Reusable configurations with approval workflow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IN"/>
              <a:t>Automated Prechecks</a:t>
            </a:r>
            <a:endParaRPr b="1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IN"/>
              <a:t>   - Validates infrastructure before deployment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folHlink"/>
              </a:buClr>
              <a:buSzPts val="1100"/>
              <a:buFont typeface="Arial"/>
              <a:buNone/>
            </a:pPr>
            <a:r>
              <a:rPr lang="en-IN"/>
              <a:t> </a:t>
            </a:r>
            <a:r>
              <a:rPr b="1" lang="en-IN"/>
              <a:t>Smart Disk Allocation</a:t>
            </a:r>
            <a:endParaRPr b="1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IN"/>
              <a:t>   - Calculates optimal partition sizes automatically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IN"/>
              <a:t>Real-time Monitoring</a:t>
            </a:r>
            <a:endParaRPr b="1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IN"/>
              <a:t>   - Live status updates and console log streaming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folHlink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System Architecture Overview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838200" y="1062300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1" name="Google Shape;151;p20" title="Gemini_Generated_Image_idk9i1idk9i1idk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062300"/>
            <a:ext cx="9611274" cy="45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Flowchart - Web-UI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8200" y="1062300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0" name="Google Shape;160;p21" title="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575" y="1062300"/>
            <a:ext cx="7669946" cy="498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Flowchart</a:t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838200" y="1062300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263" y="1062300"/>
            <a:ext cx="823912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Future scope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838200" y="1062300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Extend the platform to support additional databases like ElasticSearch, Aerospike and queues like RabbitMQ</a:t>
            </a:r>
            <a:r>
              <a:rPr lang="en-IN"/>
              <a:t>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Integrate </a:t>
            </a:r>
            <a:r>
              <a:rPr lang="en-IN"/>
              <a:t>monitoring</a:t>
            </a:r>
            <a:r>
              <a:rPr lang="en-IN"/>
              <a:t> system with the deployed cluster.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idx="1" type="body"/>
          </p:nvPr>
        </p:nvSpPr>
        <p:spPr>
          <a:xfrm>
            <a:off x="839789" y="2496571"/>
            <a:ext cx="6911975" cy="1864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 txBox="1"/>
          <p:nvPr>
            <p:ph type="ctrTitle"/>
          </p:nvPr>
        </p:nvSpPr>
        <p:spPr>
          <a:xfrm>
            <a:off x="849945" y="1262547"/>
            <a:ext cx="68916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80"/>
              <a:buFont typeface="Calibri"/>
              <a:buNone/>
            </a:pPr>
            <a:r>
              <a:rPr lang="en-IN" sz="4680"/>
              <a:t>Thank you	</a:t>
            </a:r>
            <a:endParaRPr sz="46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d">
  <a:themeElements>
    <a:clrScheme name="PhonePe_Palette">
      <a:dk1>
        <a:srgbClr val="5F249F"/>
      </a:dk1>
      <a:lt1>
        <a:srgbClr val="FFFFFF"/>
      </a:lt1>
      <a:dk2>
        <a:srgbClr val="C88ADA"/>
      </a:dk2>
      <a:lt2>
        <a:srgbClr val="0046BA"/>
      </a:lt2>
      <a:accent1>
        <a:srgbClr val="05C3DE"/>
      </a:accent1>
      <a:accent2>
        <a:srgbClr val="00833D"/>
      </a:accent2>
      <a:accent3>
        <a:srgbClr val="25CF7B"/>
      </a:accent3>
      <a:accent4>
        <a:srgbClr val="FF6900"/>
      </a:accent4>
      <a:accent5>
        <a:srgbClr val="FFCC00"/>
      </a:accent5>
      <a:accent6>
        <a:srgbClr val="DA281C"/>
      </a:accent6>
      <a:hlink>
        <a:srgbClr val="FFA3B5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